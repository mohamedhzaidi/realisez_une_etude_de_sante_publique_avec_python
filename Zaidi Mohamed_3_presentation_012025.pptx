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Helvetica 75 Bold" panose="020B0804020202020204" pitchFamily="34" charset="0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918552-902B-E389-3CD9-0145CCF517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fr/aliments-sains-nourriture-134843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levaedfisica.blogspot.com/2015/11/els-aliment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Zaidi Mohamed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id="124" name="Google Shape;124;p1" descr="Tout savoir sur les bienfaits d'une alimentation bio pour bébé | Autour de  bébé | Conseil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8800" y="3497385"/>
            <a:ext cx="6553200" cy="3360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DD37D9A2-04E3-2431-AB81-FA45EF057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10" y="4988960"/>
            <a:ext cx="3912256" cy="1083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2" name="Google Shape;131;p2">
            <a:extLst>
              <a:ext uri="{FF2B5EF4-FFF2-40B4-BE49-F238E27FC236}">
                <a16:creationId xmlns:a16="http://schemas.microsoft.com/office/drawing/2014/main" id="{DA2B936F-D1A3-E7C2-9DDC-113F0817E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0236" y="2222287"/>
            <a:ext cx="5967099" cy="46357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fr-FR" dirty="0"/>
              <a:t>Récemment arrivé dans l’équipe, nous nous voyons confier une étude de grande ampleur sur le thème de la sous-nutrition dans le monde.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Il nous est demandé de répondre à une liste de questions: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proportion de personnes en sous-nutrition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nombre théorique de personnes qui pourraient être nourries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nombre théorique de personnes qui pourraient être nourries uniquement à partir des produits d’origine végétales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L’utilisation des denrées au niveau mondial, et en particulier: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La part d’alimentation animale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La part d’alimentation perdue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La part concrètement utilisée pour l’alimentation humaine</a:t>
            </a:r>
          </a:p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" name="Google Shape;131;p2">
            <a:extLst>
              <a:ext uri="{FF2B5EF4-FFF2-40B4-BE49-F238E27FC236}">
                <a16:creationId xmlns:a16="http://schemas.microsoft.com/office/drawing/2014/main" id="{ED59BDF1-B0CB-15A4-411C-AFAD76BABFB9}"/>
              </a:ext>
            </a:extLst>
          </p:cNvPr>
          <p:cNvSpPr txBox="1">
            <a:spLocks/>
          </p:cNvSpPr>
          <p:nvPr/>
        </p:nvSpPr>
        <p:spPr>
          <a:xfrm>
            <a:off x="6095999" y="2222287"/>
            <a:ext cx="5967099" cy="46357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pays pour lesquels la proportion de personnes sous alimentées est la plus forte en 2017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pays qui ont le plus bénéficié d’aides depuis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pays ayant le plus de disponibilité alimentaire par habitant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pays ayant le moins de disponibilités alimentaires par habitant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m’a aussi invité à communiquer des résultats sur:</a:t>
            </a:r>
          </a:p>
          <a:p>
            <a:pPr marL="0" indent="0">
              <a:buNone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L’utilisation des céréales dans le monde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L’utilisation que la Thaïlande fait de ses ressources comme le manioc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Toute autre élément que je trouve pertinent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2" name="Google Shape;138;p3">
            <a:extLst>
              <a:ext uri="{FF2B5EF4-FFF2-40B4-BE49-F238E27FC236}">
                <a16:creationId xmlns:a16="http://schemas.microsoft.com/office/drawing/2014/main" id="{4E77429E-2099-D9B6-8758-756E1FC48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876" y="2387599"/>
            <a:ext cx="4284592" cy="3149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 RGPD ne s’applique pas dans notre projet.</a:t>
            </a:r>
            <a:endParaRPr dirty="0"/>
          </a:p>
        </p:txBody>
      </p:sp>
      <p:sp>
        <p:nvSpPr>
          <p:cNvPr id="3" name="Google Shape;138;p3">
            <a:extLst>
              <a:ext uri="{FF2B5EF4-FFF2-40B4-BE49-F238E27FC236}">
                <a16:creationId xmlns:a16="http://schemas.microsoft.com/office/drawing/2014/main" id="{AF254FF1-4314-52A6-CB11-7D21F6C4AAAA}"/>
              </a:ext>
            </a:extLst>
          </p:cNvPr>
          <p:cNvSpPr txBox="1">
            <a:spLocks/>
          </p:cNvSpPr>
          <p:nvPr/>
        </p:nvSpPr>
        <p:spPr>
          <a:xfrm>
            <a:off x="5655733" y="2607732"/>
            <a:ext cx="6197600" cy="3149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342900" indent="-228600">
              <a:spcBef>
                <a:spcPts val="0"/>
              </a:spcBef>
              <a:buFont typeface="Noto Sans Symbols"/>
              <a:buNone/>
            </a:pPr>
            <a:r>
              <a:rPr lang="fr-FR" dirty="0"/>
              <a:t>Pour effectuer mon analyse, j’ai utilisé les outils tels que :</a:t>
            </a:r>
          </a:p>
          <a:p>
            <a:pPr marL="342900" indent="-228600">
              <a:spcBef>
                <a:spcPts val="0"/>
              </a:spcBef>
              <a:buFont typeface="Noto Sans Symbols"/>
              <a:buNone/>
            </a:pPr>
            <a:endParaRPr lang="fr-FR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dirty="0"/>
              <a:t>Python : qui est un langage de programmation informatique;</a:t>
            </a:r>
          </a:p>
          <a:p>
            <a:pPr marL="114300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dirty="0" err="1"/>
              <a:t>Jupyter</a:t>
            </a:r>
            <a:r>
              <a:rPr lang="fr-FR" dirty="0"/>
              <a:t> notebook : lui est un cahier permettant aux développeurs de partager du code et de l’exécuter;</a:t>
            </a:r>
          </a:p>
          <a:p>
            <a:pPr marL="114300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dirty="0"/>
              <a:t>Anaconda : qui est une distribution libre et open source des langages de programmation Python et R.</a:t>
            </a:r>
          </a:p>
          <a:p>
            <a:pPr marL="342900" indent="-228600">
              <a:spcBef>
                <a:spcPts val="0"/>
              </a:spcBef>
              <a:buFont typeface="Noto Sans Symbols"/>
              <a:buNone/>
            </a:pPr>
            <a:endParaRPr lang="fr-FR" dirty="0"/>
          </a:p>
        </p:txBody>
      </p:sp>
      <p:pic>
        <p:nvPicPr>
          <p:cNvPr id="4" name="Picture 2" descr="Résultat de recherche d'images pour &quot;logo python&quot;">
            <a:extLst>
              <a:ext uri="{FF2B5EF4-FFF2-40B4-BE49-F238E27FC236}">
                <a16:creationId xmlns:a16="http://schemas.microsoft.com/office/drawing/2014/main" id="{A6AF73E3-DDA6-1801-47B4-3F1FF24D1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59" y="5716409"/>
            <a:ext cx="1379008" cy="962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ésultat de recherche d'images pour &quot;logo jupyter notebook&quot;">
            <a:extLst>
              <a:ext uri="{FF2B5EF4-FFF2-40B4-BE49-F238E27FC236}">
                <a16:creationId xmlns:a16="http://schemas.microsoft.com/office/drawing/2014/main" id="{CACAF9A7-78BD-52D2-D34A-3DE1986FB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658" y="5727258"/>
            <a:ext cx="1903943" cy="95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4F8088C-5457-8E6D-8972-27A023E06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19" y="2309974"/>
            <a:ext cx="4987228" cy="3461136"/>
          </a:xfrm>
          <a:prstGeom prst="rect">
            <a:avLst/>
          </a:prstGeom>
        </p:spPr>
      </p:pic>
      <p:sp>
        <p:nvSpPr>
          <p:cNvPr id="3" name="Google Shape;146;p4">
            <a:extLst>
              <a:ext uri="{FF2B5EF4-FFF2-40B4-BE49-F238E27FC236}">
                <a16:creationId xmlns:a16="http://schemas.microsoft.com/office/drawing/2014/main" id="{7D458B1C-0013-B983-9009-F69CEB0BB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91200" y="2222287"/>
            <a:ext cx="5582085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7,5 Milliards </a:t>
            </a:r>
            <a:r>
              <a:rPr lang="fr-FR" dirty="0"/>
              <a:t>de personnes en 2017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b="1" dirty="0">
                <a:solidFill>
                  <a:srgbClr val="FF0000"/>
                </a:solidFill>
              </a:rPr>
              <a:t>535,7 Millions </a:t>
            </a:r>
            <a:r>
              <a:rPr lang="fr-FR" dirty="0"/>
              <a:t>de personnes en état de sous nutrition.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Soit </a:t>
            </a:r>
            <a:r>
              <a:rPr lang="fr-FR" b="1" dirty="0">
                <a:solidFill>
                  <a:srgbClr val="FF0000"/>
                </a:solidFill>
              </a:rPr>
              <a:t>7,1%</a:t>
            </a:r>
            <a:r>
              <a:rPr lang="fr-FR" dirty="0"/>
              <a:t> de la population totale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2" name="Google Shape;153;p5">
            <a:extLst>
              <a:ext uri="{FF2B5EF4-FFF2-40B4-BE49-F238E27FC236}">
                <a16:creationId xmlns:a16="http://schemas.microsoft.com/office/drawing/2014/main" id="{6DA2E174-4119-009D-91E3-276113DFFA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277288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dirty="0"/>
              <a:t>Le monde dispose des ressources suffisantes pour nourrir: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8,3 Milliards </a:t>
            </a:r>
            <a:r>
              <a:rPr lang="fr-FR" dirty="0"/>
              <a:t>de personnes.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Soit </a:t>
            </a:r>
            <a:r>
              <a:rPr lang="fr-FR" b="1" u="sng" dirty="0">
                <a:solidFill>
                  <a:schemeClr val="accent1">
                    <a:lumMod val="75000"/>
                  </a:schemeClr>
                </a:solidFill>
              </a:rPr>
              <a:t>110,86%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dirty="0"/>
              <a:t>de la population mondiale en 2017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AF2E57-28E8-8CE6-794A-9D5135C32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72276" y="2556956"/>
            <a:ext cx="4620782" cy="29671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2" name="Google Shape;160;p6">
            <a:extLst>
              <a:ext uri="{FF2B5EF4-FFF2-40B4-BE49-F238E27FC236}">
                <a16:creationId xmlns:a16="http://schemas.microsoft.com/office/drawing/2014/main" id="{0EC5AB2B-06CF-8CE3-21DC-239C5A0B13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8132" y="2222287"/>
            <a:ext cx="5565153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dirty="0"/>
              <a:t>Le monde dispose de ressources végétales suffisantes pour nourrir: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b="1" dirty="0">
                <a:solidFill>
                  <a:srgbClr val="FF0000"/>
                </a:solidFill>
              </a:rPr>
              <a:t>6,9 Milliards de personnes.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Soit </a:t>
            </a:r>
            <a:r>
              <a:rPr lang="fr-FR" b="1" u="sng" dirty="0">
                <a:solidFill>
                  <a:srgbClr val="FF0000"/>
                </a:solidFill>
              </a:rPr>
              <a:t>91,47%</a:t>
            </a:r>
            <a:r>
              <a:rPr lang="fr-FR" dirty="0"/>
              <a:t> de la population mondiale en 2017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2D566B-1DAF-6AF2-FB5A-41881B38F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5128" y="2840469"/>
            <a:ext cx="3880411" cy="2585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2" name="Google Shape;167;p7">
            <a:extLst>
              <a:ext uri="{FF2B5EF4-FFF2-40B4-BE49-F238E27FC236}">
                <a16:creationId xmlns:a16="http://schemas.microsoft.com/office/drawing/2014/main" id="{67C6EFCC-3B86-289B-7BE7-E9F6A6CE5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0000" y="2492013"/>
            <a:ext cx="4329021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>
              <a:buNone/>
            </a:pPr>
            <a:r>
              <a:rPr lang="fr-FR" dirty="0"/>
              <a:t>Les denrées alimentaires sont majoritairement </a:t>
            </a:r>
            <a:r>
              <a:rPr lang="fr-FR" b="1" dirty="0">
                <a:solidFill>
                  <a:srgbClr val="00B050"/>
                </a:solidFill>
              </a:rPr>
              <a:t>(~62%) </a:t>
            </a:r>
            <a:r>
              <a:rPr lang="fr-FR" dirty="0"/>
              <a:t>utilisées pour l’</a:t>
            </a:r>
            <a:r>
              <a:rPr lang="fr-FR" b="1" dirty="0">
                <a:solidFill>
                  <a:srgbClr val="00B050"/>
                </a:solidFill>
              </a:rPr>
              <a:t>alimentation</a:t>
            </a:r>
            <a:r>
              <a:rPr lang="fr-FR" dirty="0"/>
              <a:t> humaine (~50%) et animale (~13%).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Environ </a:t>
            </a:r>
            <a:r>
              <a:rPr lang="fr-FR" b="1" dirty="0"/>
              <a:t>22%</a:t>
            </a:r>
            <a:r>
              <a:rPr lang="fr-FR" dirty="0"/>
              <a:t> est </a:t>
            </a:r>
            <a:r>
              <a:rPr lang="fr-FR" b="1" dirty="0"/>
              <a:t>transformée</a:t>
            </a:r>
            <a:r>
              <a:rPr lang="fr-FR" dirty="0"/>
              <a:t>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Environ </a:t>
            </a:r>
            <a:r>
              <a:rPr lang="fr-FR" b="1" dirty="0">
                <a:solidFill>
                  <a:srgbClr val="FF0000"/>
                </a:solidFill>
              </a:rPr>
              <a:t>5%</a:t>
            </a:r>
            <a:r>
              <a:rPr lang="fr-FR" dirty="0"/>
              <a:t> de </a:t>
            </a:r>
            <a:r>
              <a:rPr lang="fr-FR" b="1" dirty="0">
                <a:solidFill>
                  <a:srgbClr val="FF0000"/>
                </a:solidFill>
              </a:rPr>
              <a:t>pertes</a:t>
            </a:r>
            <a:r>
              <a:rPr lang="fr-F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4114E38-F826-D3A6-7325-368116C0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875" y="2412884"/>
            <a:ext cx="5468123" cy="3794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0D1893C-FECC-3277-9D96-900FB8E2E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9149" y="3312114"/>
            <a:ext cx="527685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La proportion d'alimentation animale est de :36 %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DA1AE-A13D-E4CC-B29B-62214621F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00" y="4148162"/>
            <a:ext cx="52859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 proportion d'alimentation humaine est de :43 % 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3" descr="Sacs ouverts de diverses sortes de graines">
            <a:extLst>
              <a:ext uri="{FF2B5EF4-FFF2-40B4-BE49-F238E27FC236}">
                <a16:creationId xmlns:a16="http://schemas.microsoft.com/office/drawing/2014/main" id="{3FD85039-5005-504A-35C3-C21790FE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312" y="2624668"/>
            <a:ext cx="5064912" cy="3380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sp>
        <p:nvSpPr>
          <p:cNvPr id="2" name="Google Shape;182;p9">
            <a:extLst>
              <a:ext uri="{FF2B5EF4-FFF2-40B4-BE49-F238E27FC236}">
                <a16:creationId xmlns:a16="http://schemas.microsoft.com/office/drawing/2014/main" id="{DD1D7C45-1D8B-8692-160B-90154949B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85497" y="3032663"/>
            <a:ext cx="3206503" cy="186107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14300" indent="0">
              <a:buNone/>
            </a:pPr>
            <a:r>
              <a:rPr lang="fr-FR" dirty="0"/>
              <a:t>Haïti et la Corée du nord fortement en tête.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Le reste des pays sont principalement localisés en Afrique et en Asie.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AF0607-CDF4-EDC8-4CD3-123FF5743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" y="2140471"/>
            <a:ext cx="8566424" cy="4568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1EE197C-B86B-E92F-36A4-C55F4ACA4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266" y="2153914"/>
            <a:ext cx="7552267" cy="47040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EEA1A4-0F08-D8B9-790C-2C34A0BA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933" y="1913467"/>
            <a:ext cx="6925734" cy="4836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614BDE7-2C08-1C2A-7FD4-DC04656DD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508" y="2073908"/>
            <a:ext cx="7214981" cy="46357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B2620A5-B085-5EA9-3ED5-48F368967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94" y="2145761"/>
            <a:ext cx="6021212" cy="44787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" name="Google Shape;217;p13">
            <a:extLst>
              <a:ext uri="{FF2B5EF4-FFF2-40B4-BE49-F238E27FC236}">
                <a16:creationId xmlns:a16="http://schemas.microsoft.com/office/drawing/2014/main" id="{4A79F136-2BA5-FC50-F32A-437449A58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37" y="2181646"/>
            <a:ext cx="6136566" cy="214543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14300" indent="0">
              <a:buNone/>
            </a:pPr>
            <a:r>
              <a:rPr lang="fr-FR" dirty="0"/>
              <a:t>Alors que </a:t>
            </a:r>
            <a:r>
              <a:rPr lang="fr-FR" b="1" dirty="0">
                <a:solidFill>
                  <a:srgbClr val="FF0000"/>
                </a:solidFill>
              </a:rPr>
              <a:t>8,91%</a:t>
            </a:r>
            <a:r>
              <a:rPr lang="fr-FR" dirty="0"/>
              <a:t> de sa population est sous-nourrie, la Thaïlande que </a:t>
            </a:r>
            <a:r>
              <a:rPr lang="fr-FR" b="1" dirty="0">
                <a:solidFill>
                  <a:srgbClr val="FF0000"/>
                </a:solidFill>
              </a:rPr>
              <a:t>2,6%</a:t>
            </a:r>
            <a:r>
              <a:rPr lang="fr-FR" dirty="0"/>
              <a:t> du manioc qu’elle produit ou importe n'utilise pour nourrir sa population.</a:t>
            </a:r>
          </a:p>
          <a:p>
            <a:endParaRPr lang="fr-FR" dirty="0"/>
          </a:p>
          <a:p>
            <a:pPr marL="114300" indent="0">
              <a:buNone/>
            </a:pPr>
            <a:r>
              <a:rPr lang="fr-FR" dirty="0"/>
              <a:t>En revanche la Thaïlande  est l’un des plus grands exportateurs de manioc avec plus de </a:t>
            </a:r>
            <a:r>
              <a:rPr lang="fr-FR" b="1" dirty="0">
                <a:solidFill>
                  <a:srgbClr val="FF0000"/>
                </a:solidFill>
              </a:rPr>
              <a:t>83,41%</a:t>
            </a:r>
            <a:r>
              <a:rPr lang="fr-FR" dirty="0"/>
              <a:t> de sa production destinée à </a:t>
            </a:r>
            <a:r>
              <a:rPr lang="fr-FR" b="1" dirty="0">
                <a:solidFill>
                  <a:srgbClr val="FF0000"/>
                </a:solidFill>
              </a:rPr>
              <a:t>l’export</a:t>
            </a:r>
            <a:r>
              <a:rPr lang="fr-FR" dirty="0"/>
              <a:t>.</a:t>
            </a:r>
          </a:p>
        </p:txBody>
      </p:sp>
      <p:pic>
        <p:nvPicPr>
          <p:cNvPr id="3" name="Picture 2" descr="Résultat de recherche d'images pour &quot;drapeau thaïlande&quot;">
            <a:extLst>
              <a:ext uri="{FF2B5EF4-FFF2-40B4-BE49-F238E27FC236}">
                <a16:creationId xmlns:a16="http://schemas.microsoft.com/office/drawing/2014/main" id="{D8218C80-BD6B-0AC6-E3E2-3ABA6EC58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50" y="6076627"/>
            <a:ext cx="953310" cy="617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ésultat de recherche d'images pour &quot;manioc&quot;">
            <a:extLst>
              <a:ext uri="{FF2B5EF4-FFF2-40B4-BE49-F238E27FC236}">
                <a16:creationId xmlns:a16="http://schemas.microsoft.com/office/drawing/2014/main" id="{062153A6-0662-A5A3-A8E5-FEC033EB7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6839" y="6076627"/>
            <a:ext cx="875489" cy="66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A67CA71D-5B27-2D23-71D0-74F22A9EE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00" y="4426441"/>
            <a:ext cx="4742921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  <a:cs typeface="Courier New" panose="02070309020205020404" pitchFamily="49" charset="0"/>
              </a:rPr>
              <a:t>La disponibilité alimentaire par habitant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  <a:cs typeface="Courier New" panose="02070309020205020404" pitchFamily="49" charset="0"/>
              </a:rPr>
              <a:t>pour la Thaïlande est de : 2785.0 calories 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65C9ADF-3A86-18E3-D80E-BD6043E0D8E5}"/>
              </a:ext>
            </a:extLst>
          </p:cNvPr>
          <p:cNvSpPr txBox="1"/>
          <p:nvPr/>
        </p:nvSpPr>
        <p:spPr>
          <a:xfrm>
            <a:off x="89137" y="5184843"/>
            <a:ext cx="57863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22860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1"/>
                </a:solidFill>
              </a:rPr>
              <a:t>Nous remarquons que le Manioc est le premier aliment le plus exporté par Thaïlande, et il est le 2è aliment le plus produit par la Thaïlande.</a:t>
            </a:r>
          </a:p>
          <a:p>
            <a:pPr marL="342900" lvl="0" indent="-22860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1"/>
                </a:solidFill>
              </a:rPr>
              <a:t>Nous voyons aussi que le Blé, le soja et le poissons sont les aliments les plus importés par la Thaïlande.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7E355C3-41CA-325C-29CA-F60FD0631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50" y="2004378"/>
            <a:ext cx="5738879" cy="196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87546EDB-5ECB-146B-61E2-EFF3D2695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50" y="4004902"/>
            <a:ext cx="5738878" cy="196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" name="Google Shape;231;p15">
            <a:extLst>
              <a:ext uri="{FF2B5EF4-FFF2-40B4-BE49-F238E27FC236}">
                <a16:creationId xmlns:a16="http://schemas.microsoft.com/office/drawing/2014/main" id="{3B7775EA-A318-1521-74C0-E8B5259DB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5599" y="2082801"/>
            <a:ext cx="11599333" cy="4572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algn="ctr">
              <a:buNone/>
            </a:pPr>
            <a:r>
              <a:rPr lang="fr-FR" u="sng" dirty="0"/>
              <a:t>Au niveau mondial, nous pouvons faire plusieurs constats</a:t>
            </a:r>
          </a:p>
          <a:p>
            <a:pPr algn="just"/>
            <a:endParaRPr lang="fr-FR" dirty="0"/>
          </a:p>
          <a:p>
            <a:pPr marL="114300" indent="0" algn="just">
              <a:buNone/>
            </a:pPr>
            <a:r>
              <a:rPr lang="fr-FR" u="sng" dirty="0"/>
              <a:t>Situation: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Environ </a:t>
            </a:r>
            <a:r>
              <a:rPr lang="fr-FR" b="1" dirty="0">
                <a:highlight>
                  <a:srgbClr val="FF0000"/>
                </a:highlight>
              </a:rPr>
              <a:t>7%</a:t>
            </a:r>
            <a:r>
              <a:rPr lang="fr-FR" dirty="0">
                <a:highlight>
                  <a:srgbClr val="FF0000"/>
                </a:highlight>
              </a:rPr>
              <a:t> </a:t>
            </a:r>
            <a:r>
              <a:rPr lang="fr-FR" dirty="0"/>
              <a:t>de la population mondiale est touchée par la </a:t>
            </a:r>
            <a:r>
              <a:rPr lang="fr-FR" dirty="0">
                <a:highlight>
                  <a:srgbClr val="FF0000"/>
                </a:highlight>
              </a:rPr>
              <a:t>sous-nutrition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highlight>
                  <a:srgbClr val="FF0000"/>
                </a:highlight>
              </a:rPr>
              <a:t>98%</a:t>
            </a:r>
            <a:r>
              <a:rPr lang="fr-FR" dirty="0">
                <a:highlight>
                  <a:srgbClr val="FF0000"/>
                </a:highlight>
              </a:rPr>
              <a:t> </a:t>
            </a:r>
            <a:r>
              <a:rPr lang="fr-FR" dirty="0"/>
              <a:t>des populations sous nourries sont localisées en </a:t>
            </a:r>
            <a:r>
              <a:rPr lang="fr-FR" dirty="0">
                <a:highlight>
                  <a:srgbClr val="FF0000"/>
                </a:highlight>
              </a:rPr>
              <a:t>Asie</a:t>
            </a:r>
            <a:r>
              <a:rPr lang="fr-FR" dirty="0"/>
              <a:t> et en </a:t>
            </a:r>
            <a:r>
              <a:rPr lang="fr-FR" dirty="0">
                <a:highlight>
                  <a:srgbClr val="FF0000"/>
                </a:highlight>
              </a:rPr>
              <a:t>Afrique</a:t>
            </a:r>
          </a:p>
          <a:p>
            <a:pPr algn="just"/>
            <a:endParaRPr lang="fr-FR" dirty="0"/>
          </a:p>
          <a:p>
            <a:pPr marL="114300" indent="0" algn="just">
              <a:buNone/>
            </a:pPr>
            <a:r>
              <a:rPr lang="fr-FR" u="sng" dirty="0"/>
              <a:t>Causes: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La </a:t>
            </a:r>
            <a:r>
              <a:rPr lang="fr-FR" dirty="0">
                <a:highlight>
                  <a:srgbClr val="FF0000"/>
                </a:highlight>
              </a:rPr>
              <a:t>sous-nutrition</a:t>
            </a:r>
            <a:r>
              <a:rPr lang="fr-FR" dirty="0"/>
              <a:t> est plus présente dans les pays </a:t>
            </a:r>
            <a:r>
              <a:rPr lang="fr-FR" dirty="0">
                <a:highlight>
                  <a:srgbClr val="FF0000"/>
                </a:highlight>
              </a:rPr>
              <a:t>arides</a:t>
            </a:r>
            <a:r>
              <a:rPr lang="fr-FR" dirty="0"/>
              <a:t>, victimes de </a:t>
            </a:r>
            <a:r>
              <a:rPr lang="fr-FR" dirty="0">
                <a:highlight>
                  <a:srgbClr val="FF0000"/>
                </a:highlight>
              </a:rPr>
              <a:t>guerres,</a:t>
            </a:r>
            <a:r>
              <a:rPr lang="fr-FR" dirty="0"/>
              <a:t> de </a:t>
            </a:r>
            <a:r>
              <a:rPr lang="fr-FR" dirty="0">
                <a:highlight>
                  <a:srgbClr val="FF0000"/>
                </a:highlight>
              </a:rPr>
              <a:t>catastrophes naturelles</a:t>
            </a:r>
            <a:r>
              <a:rPr lang="fr-FR" dirty="0"/>
              <a:t>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highlight>
                  <a:srgbClr val="FF0000"/>
                </a:highlight>
              </a:rPr>
              <a:t>L’aide alimentaire </a:t>
            </a:r>
            <a:r>
              <a:rPr lang="fr-FR" dirty="0"/>
              <a:t>internationale est très active dans les pays d</a:t>
            </a:r>
            <a:r>
              <a:rPr lang="fr-FR" dirty="0">
                <a:highlight>
                  <a:srgbClr val="FF0000"/>
                </a:highlight>
              </a:rPr>
              <a:t>’Afrique</a:t>
            </a:r>
            <a:r>
              <a:rPr lang="fr-F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Une très grosse part de la production de </a:t>
            </a:r>
            <a:r>
              <a:rPr lang="fr-FR" dirty="0">
                <a:highlight>
                  <a:srgbClr val="FF0000"/>
                </a:highlight>
              </a:rPr>
              <a:t>céréales</a:t>
            </a:r>
            <a:r>
              <a:rPr lang="fr-FR" dirty="0"/>
              <a:t> est utilisée dans </a:t>
            </a:r>
            <a:r>
              <a:rPr lang="fr-FR" dirty="0">
                <a:highlight>
                  <a:srgbClr val="FF0000"/>
                </a:highlight>
              </a:rPr>
              <a:t>l’alimentation animale</a:t>
            </a:r>
            <a:r>
              <a:rPr lang="fr-FR" dirty="0"/>
              <a:t>, alors qu’elle serait tout à fait consommable par les populations.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Certains pays ont des </a:t>
            </a:r>
            <a:r>
              <a:rPr lang="fr-FR" dirty="0">
                <a:highlight>
                  <a:srgbClr val="FF0000"/>
                </a:highlight>
              </a:rPr>
              <a:t>politiques</a:t>
            </a:r>
            <a:r>
              <a:rPr lang="fr-FR" dirty="0"/>
              <a:t> incohérentes d’</a:t>
            </a:r>
            <a:r>
              <a:rPr lang="fr-FR" dirty="0">
                <a:highlight>
                  <a:srgbClr val="FF0000"/>
                </a:highlight>
              </a:rPr>
              <a:t>export</a:t>
            </a:r>
            <a:r>
              <a:rPr lang="fr-FR" dirty="0"/>
              <a:t> de ressources qui pourraient nourrir leur population.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784</Words>
  <Application>Microsoft Office PowerPoint</Application>
  <PresentationFormat>Grand écran</PresentationFormat>
  <Paragraphs>94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Courier New</vt:lpstr>
      <vt:lpstr>Helvetica 75 Bold</vt:lpstr>
      <vt:lpstr>Noto Sans Symbols</vt:lpstr>
      <vt:lpstr>Calibri</vt:lpstr>
      <vt:lpstr>Century Gothic</vt:lpstr>
      <vt:lpstr>Wingdings</vt:lpstr>
      <vt:lpstr>Arial</vt:lpstr>
      <vt:lpstr>Helvetica Neue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sur l’alimentation dans le monde</dc:title>
  <dc:creator>JeY jEy</dc:creator>
  <cp:lastModifiedBy>ZAIDI Mohamed Hichem OW/FINANCE</cp:lastModifiedBy>
  <cp:revision>21</cp:revision>
  <dcterms:created xsi:type="dcterms:W3CDTF">2023-03-17T20:58:30Z</dcterms:created>
  <dcterms:modified xsi:type="dcterms:W3CDTF">2025-02-24T09:15:04Z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Entre guillemets:3</vt:lpwstr>
  </property>
  <property fmtid="{D5CDD505-2E9C-101B-9397-08002B2CF9AE}" pid="4" name="ClassificationContentMarkingFooterText">
    <vt:lpwstr>Orange Restricted</vt:lpwstr>
  </property>
</Properties>
</file>